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74" r:id="rId11"/>
    <p:sldId id="266" r:id="rId12"/>
    <p:sldId id="273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5" autoAdjust="0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23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184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A-E are visual reference labels only, no technical meaning. Links are clickable.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XGBoost for SWCNT Forest G/D Ratio Prediction | ACS Nano (2023-2024)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KAN Soft Sensor for Industrial Product Quality | Fricz, Horvath, Kummer (2026)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KAN Soft Sensors for Chemical Processes | Guo, Liu, Jia, Liu (2026)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KINN: Physics-Informed KAN, Forward &amp; Inverse in PDEs | Wang, Sun, Bai et al. (2025)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KAN Forward + Inverse Design for Materials | Fronzi et al. (2025) / Tung et al. (2025)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FIXED: gap box no longer says 'forward + inverse' (that is KINN's claim). Our contribution is the TYPE of inverse problem: setpoints not PDE coefficients, no governing equation, engineering constraints, deployed, benchmarked.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52EFF-FAB2-F1EA-5489-70627885F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9881A7-6AFB-6DA3-D35D-E74E8E79E0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0C3744-286B-7AC9-82AE-79BF96089D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KAN. Comparison: XGBoost (no gradient), MLP (gradient but black box), KAN (gradient + interpretable). Mini node diagrams show sigma on nodes (MLP) vs spline on edges (KAN).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5D916-67CB-3798-7909-80EE2748FD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349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5A45C-37CC-C8FA-BC12-5AF7A53E8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8636C4-8904-854C-FBC7-8EBB3FE771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70A55F-B71F-65BF-A4A5-6E89DCEF6D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KAN. Comparison: XGBoost (no gradient), MLP (gradient but black box), KAN (gradient + interpretable). Mini node diagrams show sigma on nodes (MLP) vs spline on edges (KAN).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F3775-7B78-8968-EEF8-3E7B4D1ED6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2945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KAN. Comparison: XGBoost (no gradient), MLP (gradient but black box), KAN (gradient + interpretable). Mini node diagrams show sigma on nodes (MLP) vs spline on edges (KAN).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27E5D-5EE9-96FD-C595-41B90EE3C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C62548-7329-9312-EA35-80FA44E82F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A0F9F2-1987-A7F4-0828-6A5474BCA0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KAN. Comparison: XGBoost (no gradient), MLP (gradient but black box), KAN (gradient + interpretable). Mini node diagrams show sigma on nodes (MLP) vs spline on edges (KAN).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B9FF74-F012-4D3D-2853-81FA101CC6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5649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KAN fixes all 3 problems. KAN is the only model both differentiable and interpretable. Execution plan reuses existing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7 phases on one slide. Phase 2 = dataset preparation, not synthetic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ubs.acs.org/doi/10.1021/acsnano.3c07587" TargetMode="External"/><Relationship Id="rId7" Type="http://schemas.openxmlformats.org/officeDocument/2006/relationships/hyperlink" Target="https://arxiv.org/abs/2510.02681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sciencedirect.com/science/article/abs/pii/S0045782524007722" TargetMode="External"/><Relationship Id="rId5" Type="http://schemas.openxmlformats.org/officeDocument/2006/relationships/hyperlink" Target="https://www.sciencedirect.com/science/article/abs/pii/S0098135426000657" TargetMode="External"/><Relationship Id="rId4" Type="http://schemas.openxmlformats.org/officeDocument/2006/relationships/hyperlink" Target="https://www.sciencedirect.com/science/article/pii/S2772508126000025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SURVEY &amp;</a:t>
            </a:r>
            <a:endParaRPr lang="en-US" sz="3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EXECUTION PLAN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7889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Physics-Informed KAN Decision Support System for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HiPCO SWCNT Reactor Quality Prediction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4114800"/>
            <a:ext cx="27432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434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NoPo Nanotechnologies  |  Review Presentation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LANDSCAPE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804672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published works that bound our novelty space. Papers labelled A to E for quick reference; each is analysed on its own slide (Slides 3 to 7).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152238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618488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184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1508760"/>
            <a:ext cx="5760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SWCNT ML Synthesis  (closest domain)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600200" y="1837944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ACS Nano Forest Study</a:t>
            </a:r>
            <a:endParaRPr lang="en-US" sz="1050" dirty="0"/>
          </a:p>
        </p:txBody>
      </p:sp>
      <p:sp>
        <p:nvSpPr>
          <p:cNvPr id="9" name="Text 7">
            <a:hlinkClick r:id="rId3"/>
          </p:cNvPr>
          <p:cNvSpPr/>
          <p:nvPr/>
        </p:nvSpPr>
        <p:spPr>
          <a:xfrm>
            <a:off x="7452360" y="16916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u="sng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pubs.acs.org/doi/10.1021/acsnano.3c07587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350008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152238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2551176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48CAE4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5511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00200" y="2441448"/>
            <a:ext cx="5760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KAN Quality Soft Sensor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600200" y="277063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Fricz et al. 2026, Digital Chemical Engineering</a:t>
            </a:r>
            <a:endParaRPr lang="en-US" sz="1050" dirty="0"/>
          </a:p>
        </p:txBody>
      </p:sp>
      <p:sp>
        <p:nvSpPr>
          <p:cNvPr id="15" name="Text 13">
            <a:hlinkClick r:id="rId4"/>
          </p:cNvPr>
          <p:cNvSpPr/>
          <p:nvPr/>
        </p:nvSpPr>
        <p:spPr>
          <a:xfrm>
            <a:off x="7452360" y="262432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u="sng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sciencedirect.com/.../S2772508126000025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282696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152238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3483864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E8973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4838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00200" y="3374136"/>
            <a:ext cx="5760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 Soft Sensor, Chemical Process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600200" y="37033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Guo et al. 2026, Computers &amp; Chemical Engineering</a:t>
            </a:r>
            <a:endParaRPr lang="en-US" sz="1050" dirty="0"/>
          </a:p>
        </p:txBody>
      </p:sp>
      <p:sp>
        <p:nvSpPr>
          <p:cNvPr id="21" name="Text 19">
            <a:hlinkClick r:id="rId5"/>
          </p:cNvPr>
          <p:cNvSpPr/>
          <p:nvPr/>
        </p:nvSpPr>
        <p:spPr>
          <a:xfrm>
            <a:off x="7452360" y="355701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u="sng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sciencedirect.com/.../S0098135426000657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4215384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152238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" y="4416552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2DC653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4165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00200" y="4306824"/>
            <a:ext cx="5760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Physics-Informed KAN for PDE Inversion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600200" y="4636008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KINN, Wang et al. 2025, CMAME</a:t>
            </a:r>
            <a:endParaRPr lang="en-US" sz="1050" dirty="0"/>
          </a:p>
        </p:txBody>
      </p:sp>
      <p:sp>
        <p:nvSpPr>
          <p:cNvPr id="27" name="Text 25">
            <a:hlinkClick r:id="rId6"/>
          </p:cNvPr>
          <p:cNvSpPr/>
          <p:nvPr/>
        </p:nvSpPr>
        <p:spPr>
          <a:xfrm>
            <a:off x="7452360" y="448970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u="sng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sciencedirect.com/.../S0045782524007722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5148072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152238"/>
          </a:solidFill>
          <a:ln/>
        </p:spPr>
      </p:sp>
      <p:sp>
        <p:nvSpPr>
          <p:cNvPr id="29" name="Shape 27"/>
          <p:cNvSpPr/>
          <p:nvPr/>
        </p:nvSpPr>
        <p:spPr>
          <a:xfrm>
            <a:off x="914400" y="534924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E85D5D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53492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600200" y="5239512"/>
            <a:ext cx="5760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 Inverse Materials Design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600200" y="5568696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Fronzi et al. 2025 / Tung et al. 2025</a:t>
            </a:r>
            <a:endParaRPr lang="en-US" sz="1050" dirty="0"/>
          </a:p>
        </p:txBody>
      </p:sp>
      <p:sp>
        <p:nvSpPr>
          <p:cNvPr id="33" name="Text 31">
            <a:hlinkClick r:id="rId7"/>
          </p:cNvPr>
          <p:cNvSpPr/>
          <p:nvPr/>
        </p:nvSpPr>
        <p:spPr>
          <a:xfrm>
            <a:off x="7452360" y="54223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u="sng" dirty="0">
                <a:solidFill>
                  <a:srgbClr val="48CA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arxiv.org/abs/2510.02681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for SWCNT Forest G/D Ratio Prediction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371600" y="786384"/>
            <a:ext cx="9966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ACS Nano (2023-2024)   |   American Chemical Society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15223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5087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DID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87452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XGBoost to predict G/D ratio and forest height from 9 synthesis parameters in substrate-grown SWCNT CVD forests.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100+ experimental batches with cross-validation.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 virtual inverse experimentation: iterated XGBoost over the input space to recommend synthesis conditions.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Achieved prediction errors comparable to experimental repeatability.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Benchmarked XGBoost against LR, SVM, and MLP.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212080" cy="1920240"/>
          </a:xfrm>
          <a:prstGeom prst="roundRect">
            <a:avLst>
              <a:gd name="adj" fmla="val 4762"/>
            </a:avLst>
          </a:prstGeom>
          <a:solidFill>
            <a:srgbClr val="152238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5087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DID NOT 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187452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Substrate-grown CVD forest, not a gas-phase HiPCO reactor.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first-principles secondary-parameter computation.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Inverse via brute-force grid search, not a differentiable model.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OPC-UA historian pipeline or deployed operator DSS.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3520440"/>
            <a:ext cx="5212080" cy="2057400"/>
          </a:xfrm>
          <a:prstGeom prst="roundRect">
            <a:avLst>
              <a:gd name="adj" fmla="val 4444"/>
            </a:avLst>
          </a:prstGeom>
          <a:solidFill>
            <a:srgbClr val="0A2A1A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36576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DELTA (WHY WE DIFFER)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process is gas-phase HiPCO disproportionation with no known governing equation.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use a differentiable KAN, so inverse search uses true gradients, not grid search.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deliver an end-to-end operator-facing DSS, not a standalone modelling study.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 as related work. We do not claim this as our novelty.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8CAE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 Soft Sensor for Industrial Product Quality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371600" y="786384"/>
            <a:ext cx="9966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Fricz, Horvath, Kummer (2026)   |   Digital Chemical Engineering 18:100289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15223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5087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DID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87452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KAN as an interpretable soft sensor for product quality in an industrial aniline synthesis plant.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Benchmarked KAN against MLP and LSTM on real process data.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Extracted closed-form symbolic equations from trained KAN spline activations (symbolic snapping).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Showed KAN matches or beats deep networks with built-in interpretability.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validated on a steam turbine benchmark.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212080" cy="1920240"/>
          </a:xfrm>
          <a:prstGeom prst="roundRect">
            <a:avLst>
              <a:gd name="adj" fmla="val 4762"/>
            </a:avLst>
          </a:prstGeom>
          <a:solidFill>
            <a:srgbClr val="152238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5087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DID NOT 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187452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prediction only, no inverse recipe recommendation.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reactor setpoint optimization or recipe search of any kind.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nanomaterials or HiPCO process.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deployed operator decision support system.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3520440"/>
            <a:ext cx="5212080" cy="2057400"/>
          </a:xfrm>
          <a:prstGeom prst="roundRect">
            <a:avLst>
              <a:gd name="adj" fmla="val 4444"/>
            </a:avLst>
          </a:prstGeom>
          <a:solidFill>
            <a:srgbClr val="0A2A1A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36576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DELTA (WHY WE DIFFER)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add a differentiable inverse loop: the KAN recommends actionable reactor setpoints.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KAN application to a HiPCO SWCNT reactor.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benchmark against a live production XGBoost + PLS system, not a generic benchmark.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 as related work. We do not claim this as our novelty.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97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 Soft Sensors for Chemical Processes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371600" y="786384"/>
            <a:ext cx="9966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Guo, Liu, Jia, Liu (2026)   |   Computers &amp; Chemical Engineering 210:109612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15223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5087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DID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87452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B-spline KAN for chemical processes with distributed high-dimensional outputs.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Addressed input-output dimensional mismatch in distributed-output chemical processes.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Demonstrated superior local nonlinear fitting over standard MLP.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on simulation data with distributed particle size outputs.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212080" cy="1920240"/>
          </a:xfrm>
          <a:prstGeom prst="roundRect">
            <a:avLst>
              <a:gd name="adj" fmla="val 4762"/>
            </a:avLst>
          </a:prstGeom>
          <a:solidFill>
            <a:srgbClr val="152238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5087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DID NOT 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187452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distributed PDF outputs, not scalar batch quality metrics.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physics-engine feature integration.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inverse optimization or recipe recommendation.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end-to-end DSS with historian ingestion.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3520440"/>
            <a:ext cx="5212080" cy="2057400"/>
          </a:xfrm>
          <a:prstGeom prst="roundRect">
            <a:avLst>
              <a:gd name="adj" fmla="val 4444"/>
            </a:avLst>
          </a:prstGeom>
          <a:solidFill>
            <a:srgbClr val="0A2A1A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36576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DELTA (WHY WE DIFFER)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targets are scalar batch metrics: G/D ratio, UV purity, Fe/Ni/Cr ppm.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couple the KAN with our existing 167-formula physics feature engine.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wire everything into a deployed operator DSS, not a modelling benchmark.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 as related work. We do not claim this as our novelty.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DC65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KINN: Physics-Informed KAN, Forward &amp; Inverse in PDEs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371600" y="786384"/>
            <a:ext cx="9966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Wang, Sun, Bai et al. (2025)   |   Computer Methods in Applied Mechanics and Engineering 433:117518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15223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5087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DID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87452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KINN: a physics-informed KAN that embeds PDE residuals into the KAN loss function.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Solved both forward and inverse problems in computational mechanics (Burgers, Helmholtz, Poisson equations).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inverse recovers hidden physical fields or PDE coefficients inside a known governing equation.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Showed KAN spline activations speed convergence on physics-informed tasks.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 standard MLP-based PINNs on benchmark PDEs.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212080" cy="1920240"/>
          </a:xfrm>
          <a:prstGeom prst="roundRect">
            <a:avLst>
              <a:gd name="adj" fmla="val 4762"/>
            </a:avLst>
          </a:prstGeom>
          <a:solidFill>
            <a:srgbClr val="152238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5087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DID NOT 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187452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Inverts known, written-down PDE equations. The governing equations are given; the inverse recovers a hidden field inside them.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 reactor process data, no historian ingestion, no sensor noise, no missing data.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multi-target quality prediction under extreme data scarcity.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deployed decision support or actionable setpoint recommendation.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3520440"/>
            <a:ext cx="5212080" cy="2057400"/>
          </a:xfrm>
          <a:prstGeom prst="roundRect">
            <a:avLst>
              <a:gd name="adj" fmla="val 4444"/>
            </a:avLst>
          </a:prstGeom>
          <a:solidFill>
            <a:srgbClr val="0A2A1A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36576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DELTA (WHY WE DIFFER)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KINN proves the KAN differentiable inverse principle works. We apply it to a fundamentally different type of inverse problem.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NOT recovering a hidden field inside a known PDE. We are searching for actionable machine setpoints in a process that has NO known governing equation.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inverse output is a recipe an operator dials into a real reactor, constrained by engineering limits (flow, thermal, choke). Not a mathematical coefficient.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benchmark against our own production XGBoost + PLS system on real data. KINN does neither.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 as related work. We do not claim this as our novelty.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85D5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 Forward + Inverse Design for Materials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371600" y="786384"/>
            <a:ext cx="9966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Fronzi et al. (2025) / Tung et al. (2025)   |   arXiv:2510.02681 / J. Chem. Phys. 162:074106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152238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5087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DID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87452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Fronzi: KAN reverse-engineers thermoelectric materials with targeted properties.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Tung: KAN inverts scattering spectra to recover soft-material structure.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demonstrate KAN forward + inverse workflow for materials science.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use KAN interpretability to expose learned physical relationships.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212080" cy="1920240"/>
          </a:xfrm>
          <a:prstGeom prst="roundRect">
            <a:avLst>
              <a:gd name="adj" fmla="val 4762"/>
            </a:avLst>
          </a:prstGeom>
          <a:solidFill>
            <a:srgbClr val="152238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5087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DID NOT 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187452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 property design, not industrial reactor process control.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real-time historian ingestion or production-state detection.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engineering feasibility constraints (nozzle choke, thermal, flow).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deployed operator tool or DSS.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3520440"/>
            <a:ext cx="5212080" cy="2057400"/>
          </a:xfrm>
          <a:prstGeom prst="roundRect">
            <a:avLst>
              <a:gd name="adj" fmla="val 4444"/>
            </a:avLst>
          </a:prstGeom>
          <a:solidFill>
            <a:srgbClr val="0A2A1A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36576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DELTA (WHY WE DIFFER)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inverse targets are reactor setpoints constrained by engineering feasibility, not abstract material compositions.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deliver a deployed operator quality-control tool, not a design benchmark.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benchmark against an existing production XGBoost + PLS pipeline.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 as related work. We do not claim this as our novelty.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SYNTHESIS: THE GAP WE FILL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804672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papers relate most, the common limitation across all five, and the one combination none of them cover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5257800" cy="2514600"/>
          </a:xfrm>
          <a:prstGeom prst="roundRect">
            <a:avLst>
              <a:gd name="adj" fmla="val 3636"/>
            </a:avLst>
          </a:prstGeom>
          <a:solidFill>
            <a:srgbClr val="152238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44752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PAPERS RELATE MOST TO OUR WORK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1783080"/>
            <a:ext cx="4709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  <a:buSzPct val="100000"/>
            </a:pPr>
            <a:r>
              <a:rPr sz="1100" b="1" dirty="0">
                <a:solidFill>
                  <a:srgbClr val="00F2FE"/>
                </a:solidFill>
              </a:rPr>
              <a:t>Paper D (KINN - CMAME 2025): </a:t>
            </a:r>
            <a:r>
              <a:rPr sz="1100" b="0" dirty="0">
                <a:solidFill>
                  <a:srgbClr val="F0F4F8"/>
                </a:solidFill>
              </a:rPr>
              <a:t>Proves KAN differentiable inversion works on known PDEs.</a:t>
            </a:r>
            <a:endParaRPr lang="en-US" sz="1100" dirty="0"/>
          </a:p>
          <a:p>
            <a:pPr>
              <a:spcAft>
                <a:spcPts val="800"/>
              </a:spcAft>
            </a:pPr>
            <a:r>
              <a:rPr sz="1100" b="1" dirty="0">
                <a:solidFill>
                  <a:srgbClr val="00F2FE"/>
                </a:solidFill>
              </a:rPr>
              <a:t>Papers B &amp; C (Chem Eng 2026): </a:t>
            </a:r>
            <a:r>
              <a:rPr sz="1100" b="0" dirty="0">
                <a:solidFill>
                  <a:srgbClr val="F0F4F8"/>
                </a:solidFill>
              </a:rPr>
              <a:t>Prove KAN as an interpretable industrial soft sensor.</a:t>
            </a:r>
          </a:p>
          <a:p>
            <a:pPr>
              <a:spcAft>
                <a:spcPts val="800"/>
              </a:spcAft>
            </a:pPr>
            <a:r>
              <a:rPr sz="1100" b="1" dirty="0">
                <a:solidFill>
                  <a:srgbClr val="00F2FE"/>
                </a:solidFill>
              </a:rPr>
              <a:t>Paper A (ACS Nano 2023): </a:t>
            </a:r>
            <a:r>
              <a:rPr sz="1100" b="0" dirty="0">
                <a:solidFill>
                  <a:srgbClr val="F0F4F8"/>
                </a:solidFill>
              </a:rPr>
              <a:t>SWCNT G/D prediction using non-differentiable </a:t>
            </a:r>
            <a:r>
              <a:rPr sz="1100" b="0" dirty="0" err="1">
                <a:solidFill>
                  <a:srgbClr val="F0F4F8"/>
                </a:solidFill>
              </a:rPr>
              <a:t>XGBoost</a:t>
            </a:r>
            <a:r>
              <a:rPr sz="1100" b="0" dirty="0">
                <a:solidFill>
                  <a:srgbClr val="F0F4F8"/>
                </a:solidFill>
              </a:rPr>
              <a:t>.</a:t>
            </a:r>
          </a:p>
        </p:txBody>
      </p:sp>
      <p:sp>
        <p:nvSpPr>
          <p:cNvPr id="7" name="Shape 5"/>
          <p:cNvSpPr/>
          <p:nvPr/>
        </p:nvSpPr>
        <p:spPr>
          <a:xfrm>
            <a:off x="6172200" y="1325880"/>
            <a:ext cx="5257800" cy="2514600"/>
          </a:xfrm>
          <a:prstGeom prst="roundRect">
            <a:avLst>
              <a:gd name="adj" fmla="val 3636"/>
            </a:avLst>
          </a:prstGeom>
          <a:solidFill>
            <a:srgbClr val="152238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444752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ALL 5 PAPERS SHARE (THE COMMON GAP)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46520" y="1783080"/>
            <a:ext cx="4709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  <a:buSzPct val="100000"/>
            </a:pPr>
            <a:r>
              <a:rPr sz="1100" b="1" dirty="0">
                <a:solidFill>
                  <a:srgbClr val="F59E0B"/>
                </a:solidFill>
              </a:rPr>
              <a:t>Isolated Toy Focus: </a:t>
            </a:r>
            <a:r>
              <a:rPr sz="1100" b="0" dirty="0">
                <a:solidFill>
                  <a:srgbClr val="F0F4F8"/>
                </a:solidFill>
              </a:rPr>
              <a:t>Each solves only one isolated piece (forward or toy PDE).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sz="1100" b="1" dirty="0">
                <a:solidFill>
                  <a:srgbClr val="F59E0B"/>
                </a:solidFill>
              </a:rPr>
              <a:t>Zero Gas-Phase Focus: </a:t>
            </a:r>
            <a:r>
              <a:rPr sz="1100" b="0" dirty="0">
                <a:solidFill>
                  <a:srgbClr val="F0F4F8"/>
                </a:solidFill>
              </a:rPr>
              <a:t>None model floating-catalyst aerosol kinetics (10-90 atm).</a:t>
            </a:r>
          </a:p>
          <a:p>
            <a:pPr>
              <a:spcAft>
                <a:spcPts val="600"/>
              </a:spcAft>
            </a:pPr>
            <a:r>
              <a:rPr sz="1100" b="1" dirty="0">
                <a:solidFill>
                  <a:srgbClr val="F59E0B"/>
                </a:solidFill>
              </a:rPr>
              <a:t>No Deployed Operator Tool: </a:t>
            </a:r>
            <a:r>
              <a:rPr sz="1100" b="0" dirty="0">
                <a:solidFill>
                  <a:srgbClr val="F0F4F8"/>
                </a:solidFill>
              </a:rPr>
              <a:t>None connect to live SCADA/PLC historians.</a:t>
            </a:r>
          </a:p>
          <a:p>
            <a:pPr>
              <a:spcAft>
                <a:spcPts val="600"/>
              </a:spcAft>
            </a:pPr>
            <a:r>
              <a:rPr sz="1100" b="1" dirty="0">
                <a:solidFill>
                  <a:srgbClr val="F59E0B"/>
                </a:solidFill>
              </a:rPr>
              <a:t>No Production Benchmark: </a:t>
            </a:r>
            <a:r>
              <a:rPr sz="1100" b="0" dirty="0">
                <a:solidFill>
                  <a:srgbClr val="F0F4F8"/>
                </a:solidFill>
              </a:rPr>
              <a:t>None benchmark against real plant baselines.</a:t>
            </a:r>
          </a:p>
        </p:txBody>
      </p:sp>
      <p:sp>
        <p:nvSpPr>
          <p:cNvPr id="10" name="Shape 8"/>
          <p:cNvSpPr/>
          <p:nvPr/>
        </p:nvSpPr>
        <p:spPr>
          <a:xfrm>
            <a:off x="731520" y="4023360"/>
            <a:ext cx="10698480" cy="2377440"/>
          </a:xfrm>
          <a:prstGeom prst="roundRect">
            <a:avLst>
              <a:gd name="adj" fmla="val 3846"/>
            </a:avLst>
          </a:prstGeom>
          <a:solidFill>
            <a:srgbClr val="0A2A1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133088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CONTRIBUTION (THE UNFILLED COMBINATION)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4462272"/>
            <a:ext cx="10149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sz="1150" b="1">
                <a:solidFill>
                  <a:srgbClr val="00E676"/>
                </a:solidFill>
              </a:rPr>
              <a:t>A New Inverse Problem Type: </a:t>
            </a:r>
            <a:r>
              <a:rPr sz="1150" b="0">
                <a:solidFill>
                  <a:srgbClr val="F0F4F8"/>
                </a:solidFill>
              </a:rPr>
              <a:t>Inverting a learned empirical surrogate to recover actionable reactor SETPOINTS (not abstract PDE coefficients) for a process with NO closed-form governing equations.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0E676"/>
                </a:solidFill>
              </a:rPr>
              <a:t>Physically &amp; Feasibly Grounded: </a:t>
            </a:r>
            <a:r>
              <a:rPr sz="1150" b="0">
                <a:solidFill>
                  <a:srgbClr val="F0F4F8"/>
                </a:solidFill>
              </a:rPr>
              <a:t>Strictly constrained by sonic choke limits, residence time, and thermodynamics.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0E676"/>
                </a:solidFill>
              </a:rPr>
              <a:t>End-to-End Cyber-Physical Deployment: </a:t>
            </a:r>
            <a:r>
              <a:rPr sz="1150" b="0">
                <a:solidFill>
                  <a:srgbClr val="F0F4F8"/>
                </a:solidFill>
              </a:rPr>
              <a:t>Delivered as a live 1.19 MB Decision Support System (OPC-UA + GUI) benchmarked against our production XGBoost + PLS baselines.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52BFA9-909C-BF84-6513-48BA8DB89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6BBEDEB-4E7C-89E2-495B-F316AEA8CDED}"/>
              </a:ext>
            </a:extLst>
          </p:cNvPr>
          <p:cNvSpPr/>
          <p:nvPr/>
        </p:nvSpPr>
        <p:spPr>
          <a:xfrm>
            <a:off x="73152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KAN?</a:t>
            </a:r>
            <a:endParaRPr lang="en-US" sz="2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6713E7E-0168-2A79-B1B5-27FB5AC97097}"/>
              </a:ext>
            </a:extLst>
          </p:cNvPr>
          <p:cNvSpPr/>
          <p:nvPr/>
        </p:nvSpPr>
        <p:spPr>
          <a:xfrm>
            <a:off x="73152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(Kolmogorov-Arnold Network)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D9B7F3F-728A-7485-9517-947032912006}"/>
              </a:ext>
            </a:extLst>
          </p:cNvPr>
          <p:cNvSpPr/>
          <p:nvPr/>
        </p:nvSpPr>
        <p:spPr>
          <a:xfrm>
            <a:off x="9235440" y="20116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614B348B-DE91-F9FC-B7DB-AF6E16E3C09C}"/>
              </a:ext>
            </a:extLst>
          </p:cNvPr>
          <p:cNvSpPr/>
          <p:nvPr/>
        </p:nvSpPr>
        <p:spPr>
          <a:xfrm>
            <a:off x="1005840" y="62362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σ sits on the NODE</a:t>
            </a:r>
            <a:endParaRPr lang="en-US" sz="950" dirty="0"/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1D96DC88-0D38-5926-3798-C6F605987418}"/>
              </a:ext>
            </a:extLst>
          </p:cNvPr>
          <p:cNvSpPr/>
          <p:nvPr/>
        </p:nvSpPr>
        <p:spPr>
          <a:xfrm>
            <a:off x="5120640" y="62362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Learnable spline sits on the EDGE</a:t>
            </a:r>
            <a:endParaRPr lang="en-US" sz="95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15253A5-D36C-AFEB-6046-C43BF4AE1CBE}"/>
              </a:ext>
            </a:extLst>
          </p:cNvPr>
          <p:cNvSpPr txBox="1"/>
          <p:nvPr/>
        </p:nvSpPr>
        <p:spPr>
          <a:xfrm>
            <a:off x="579120" y="2451997"/>
            <a:ext cx="11033760" cy="3426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500"/>
              </a:spcAft>
              <a:buNone/>
            </a:pPr>
            <a:r>
              <a:rPr sz="2000" b="1" dirty="0">
                <a:solidFill>
                  <a:srgbClr val="00F2FE"/>
                </a:solidFill>
              </a:rPr>
              <a:t>1. Mathematical Basis: </a:t>
            </a:r>
            <a:r>
              <a:rPr sz="2000" b="0" dirty="0">
                <a:solidFill>
                  <a:srgbClr val="F0F4F8"/>
                </a:solidFill>
              </a:rPr>
              <a:t>Decomposes complex multidimensional functions into compositions of 1D single-variable functions and additions (1957 Theorem).</a:t>
            </a:r>
          </a:p>
          <a:p>
            <a:pPr>
              <a:spcAft>
                <a:spcPts val="500"/>
              </a:spcAft>
            </a:pPr>
            <a:r>
              <a:rPr sz="2000" b="1" dirty="0">
                <a:solidFill>
                  <a:srgbClr val="00F2FE"/>
                </a:solidFill>
              </a:rPr>
              <a:t>2. Architectural Core: </a:t>
            </a:r>
            <a:r>
              <a:rPr sz="2000" b="0" dirty="0">
                <a:solidFill>
                  <a:srgbClr val="F0F4F8"/>
                </a:solidFill>
              </a:rPr>
              <a:t>Replaces static node activations with learnable 1D non-linear spline curves directly on the edges.</a:t>
            </a:r>
          </a:p>
          <a:p>
            <a:pPr>
              <a:spcAft>
                <a:spcPts val="500"/>
              </a:spcAft>
            </a:pPr>
            <a:r>
              <a:rPr sz="2000" b="1" dirty="0">
                <a:solidFill>
                  <a:srgbClr val="00F2FE"/>
                </a:solidFill>
              </a:rPr>
              <a:t>3. Smooth Gradients (</a:t>
            </a:r>
            <a:r>
              <a:rPr sz="2000" b="1" dirty="0" err="1">
                <a:solidFill>
                  <a:srgbClr val="00F2FE"/>
                </a:solidFill>
              </a:rPr>
              <a:t>C^inf</a:t>
            </a:r>
            <a:r>
              <a:rPr sz="2000" b="1" dirty="0">
                <a:solidFill>
                  <a:srgbClr val="00F2FE"/>
                </a:solidFill>
              </a:rPr>
              <a:t>): </a:t>
            </a:r>
            <a:r>
              <a:rPr sz="2000" b="0" dirty="0">
                <a:solidFill>
                  <a:srgbClr val="F0F4F8"/>
                </a:solidFill>
              </a:rPr>
              <a:t>Guarantees infinitely smooth differentiability everywhere, eliminating tree-model step discontinuities.</a:t>
            </a:r>
          </a:p>
          <a:p>
            <a:pPr>
              <a:spcAft>
                <a:spcPts val="500"/>
              </a:spcAft>
            </a:pPr>
            <a:r>
              <a:rPr sz="2000" b="1" dirty="0">
                <a:solidFill>
                  <a:srgbClr val="00F2FE"/>
                </a:solidFill>
              </a:rPr>
              <a:t>4. Instant Inverse Inversion: </a:t>
            </a:r>
            <a:r>
              <a:rPr sz="2000" b="0" dirty="0">
                <a:solidFill>
                  <a:srgbClr val="F0F4F8"/>
                </a:solidFill>
              </a:rPr>
              <a:t>Enables </a:t>
            </a:r>
            <a:r>
              <a:rPr sz="2000" b="0" dirty="0" err="1">
                <a:solidFill>
                  <a:srgbClr val="F0F4F8"/>
                </a:solidFill>
              </a:rPr>
              <a:t>PyTorch</a:t>
            </a:r>
            <a:r>
              <a:rPr sz="2000" b="0" dirty="0">
                <a:solidFill>
                  <a:srgbClr val="F0F4F8"/>
                </a:solidFill>
              </a:rPr>
              <a:t> </a:t>
            </a:r>
            <a:r>
              <a:rPr sz="2000" b="0" dirty="0" err="1">
                <a:solidFill>
                  <a:srgbClr val="F0F4F8"/>
                </a:solidFill>
              </a:rPr>
              <a:t>autograd</a:t>
            </a:r>
            <a:r>
              <a:rPr sz="2000" b="0" dirty="0">
                <a:solidFill>
                  <a:srgbClr val="F0F4F8"/>
                </a:solidFill>
              </a:rPr>
              <a:t> backpropagation to calculate optimal reactor setpoints in under 0.08 seconds.</a:t>
            </a:r>
          </a:p>
          <a:p>
            <a:pPr>
              <a:spcAft>
                <a:spcPts val="500"/>
              </a:spcAft>
            </a:pPr>
            <a:r>
              <a:rPr sz="2000" b="1" dirty="0">
                <a:solidFill>
                  <a:srgbClr val="00F2FE"/>
                </a:solidFill>
              </a:rPr>
              <a:t>5. Zero Black-Box: </a:t>
            </a:r>
            <a:r>
              <a:rPr sz="2000" b="0" dirty="0">
                <a:solidFill>
                  <a:srgbClr val="F0F4F8"/>
                </a:solidFill>
              </a:rPr>
              <a:t>Every edge is a transparent 1D curve, directly verifiable against real Arrhenius reaction kinetics.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1B51D36-0006-DAC2-2905-DD3327AD066F}"/>
                  </a:ext>
                </a:extLst>
              </p:cNvPr>
              <p:cNvSpPr txBox="1"/>
              <p:nvPr/>
            </p:nvSpPr>
            <p:spPr>
              <a:xfrm>
                <a:off x="579120" y="1099429"/>
                <a:ext cx="1089660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dirty="0">
                    <a:solidFill>
                      <a:schemeClr val="bg1"/>
                    </a:solidFill>
                  </a:rPr>
                  <a:t>A Kolmogorov-Arnold Network (KAN) is a neural architecture based on the 1957 theorem that decomposes complex multidimensional relationships into compositions of 1D single-variable functions. Unlike standard MLPs with static node activations, KAN places </a:t>
                </a:r>
                <a:r>
                  <a:rPr lang="en-IN" b="1" dirty="0">
                    <a:solidFill>
                      <a:schemeClr val="bg1"/>
                    </a:solidFill>
                  </a:rPr>
                  <a:t>learnable, continuous spline curves directly on the network edges</a:t>
                </a:r>
                <a:r>
                  <a:rPr lang="en-IN" dirty="0">
                    <a:solidFill>
                      <a:schemeClr val="bg1"/>
                    </a:solidFill>
                  </a:rPr>
                  <a:t>, providing smooth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lang="en-IN" dirty="0">
                    <a:solidFill>
                      <a:schemeClr val="bg1"/>
                    </a:solidFill>
                  </a:rPr>
                  <a:t>) gradients for instant inverse control and plottable physical interpretability.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1B51D36-0006-DAC2-2905-DD3327AD06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" y="1099429"/>
                <a:ext cx="10896600" cy="1200329"/>
              </a:xfrm>
              <a:prstGeom prst="rect">
                <a:avLst/>
              </a:prstGeom>
              <a:blipFill>
                <a:blip r:embed="rId3"/>
                <a:stretch>
                  <a:fillRect l="-447" t="-2538" b="-71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9502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C08F64-5093-6224-7A06-9A994D512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E9AA061-9713-E131-DD58-A96842F498E8}"/>
              </a:ext>
            </a:extLst>
          </p:cNvPr>
          <p:cNvSpPr/>
          <p:nvPr/>
        </p:nvSpPr>
        <p:spPr>
          <a:xfrm>
            <a:off x="73152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KAN COMPARE?</a:t>
            </a:r>
            <a:endParaRPr lang="en-US" sz="2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401C341-1A0C-8197-0300-BE4ABCF0BE97}"/>
              </a:ext>
            </a:extLst>
          </p:cNvPr>
          <p:cNvSpPr/>
          <p:nvPr/>
        </p:nvSpPr>
        <p:spPr>
          <a:xfrm>
            <a:off x="73152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(Kolmogorov-Arnold Network)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6A08F59-F1E0-C519-462E-6005649C1133}"/>
              </a:ext>
            </a:extLst>
          </p:cNvPr>
          <p:cNvSpPr/>
          <p:nvPr/>
        </p:nvSpPr>
        <p:spPr>
          <a:xfrm>
            <a:off x="9235440" y="20116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9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3F3598-89DC-894C-40CA-61CA43D0D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772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KAN COMPARE?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(Kolmogorov-Arnold Network)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235440" y="20116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3337560" cy="3383280"/>
          </a:xfrm>
          <a:prstGeom prst="roundRect">
            <a:avLst>
              <a:gd name="adj" fmla="val 2740"/>
            </a:avLst>
          </a:prstGeom>
          <a:solidFill>
            <a:srgbClr val="2A1515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29844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(WHAT WE HAVE)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7830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Differentiable?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377440" y="17830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4688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Interpretable?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77440" y="24688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only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1546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Inverse search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377440" y="3154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slow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E8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 evolution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3840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Trust?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77440" y="38404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1188720"/>
            <a:ext cx="3337560" cy="3383280"/>
          </a:xfrm>
          <a:prstGeom prst="roundRect">
            <a:avLst>
              <a:gd name="adj" fmla="val 2740"/>
            </a:avLst>
          </a:prstGeom>
          <a:solidFill>
            <a:srgbClr val="1A2233"/>
          </a:solidFill>
          <a:ln/>
        </p:spPr>
      </p:sp>
      <p:sp>
        <p:nvSpPr>
          <p:cNvPr id="17" name="Text 15"/>
          <p:cNvSpPr/>
          <p:nvPr/>
        </p:nvSpPr>
        <p:spPr>
          <a:xfrm>
            <a:off x="4434840" y="129844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/ PLAIN NEURAL NET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80560" y="17830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Differentiable?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0" y="17830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80560" y="24688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Interpretable?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43600" y="24688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(black box)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80560" y="31546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Inverse search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943600" y="3154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 but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E89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untrustworthy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80560" y="3840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Trust?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43600" y="38404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verify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863840" y="1188720"/>
            <a:ext cx="3337560" cy="3383280"/>
          </a:xfrm>
          <a:prstGeom prst="roundRect">
            <a:avLst>
              <a:gd name="adj" fmla="val 2740"/>
            </a:avLst>
          </a:prstGeom>
          <a:solidFill>
            <a:srgbClr val="0A2A1A"/>
          </a:solidFill>
          <a:ln/>
        </p:spPr>
      </p:sp>
      <p:sp>
        <p:nvSpPr>
          <p:cNvPr id="27" name="Text 25"/>
          <p:cNvSpPr/>
          <p:nvPr/>
        </p:nvSpPr>
        <p:spPr>
          <a:xfrm>
            <a:off x="8001000" y="129844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 (WHAT WE ADD)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46720" y="17830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Differentiable?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509760" y="17830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46720" y="24688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Interpretable?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509760" y="24688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(plot curves)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46720" y="31546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Inverse search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509760" y="3154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gradient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uncertainty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46720" y="3840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Trust?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509760" y="38404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Cross-check physics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BFBAE2-ED34-789D-E91E-125000889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4C9DD2B-A585-377B-14EE-3C19A769B588}"/>
              </a:ext>
            </a:extLst>
          </p:cNvPr>
          <p:cNvSpPr/>
          <p:nvPr/>
        </p:nvSpPr>
        <p:spPr>
          <a:xfrm>
            <a:off x="73152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KAN COMPARE?</a:t>
            </a:r>
            <a:endParaRPr lang="en-US" sz="2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C5A5F8C-B5BC-CE1F-6B8A-D26B1C0CE659}"/>
              </a:ext>
            </a:extLst>
          </p:cNvPr>
          <p:cNvSpPr/>
          <p:nvPr/>
        </p:nvSpPr>
        <p:spPr>
          <a:xfrm>
            <a:off x="73152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(Kolmogorov-Arnold Network)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3CCC1FC-68C2-D48F-4935-082F73F59D40}"/>
              </a:ext>
            </a:extLst>
          </p:cNvPr>
          <p:cNvSpPr/>
          <p:nvPr/>
        </p:nvSpPr>
        <p:spPr>
          <a:xfrm>
            <a:off x="9235440" y="20116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9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BC5426C3-04E0-BC17-25EB-4BB962A61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133856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338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KAN NOVEL? 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731520" y="804672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one differentiable, interpretable model that improves forward prediction, inverse recipe search, and trust at once.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5943600" cy="3246120"/>
          </a:xfrm>
          <a:prstGeom prst="roundRect">
            <a:avLst>
              <a:gd name="adj" fmla="val 2817"/>
            </a:avLst>
          </a:prstGeom>
          <a:solidFill>
            <a:srgbClr val="0A2A1A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3560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C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KAN SOLVES EACH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1783080"/>
            <a:ext cx="53949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1. KAN is differentiable end to end. We get true analytic gradients, so inverse recipe search uses fast L-BFGS / Adam instead of slow differential evolution, and multi-start runs give an uncertainty band on the recommended recipe.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2. One nonlinear model replaces the PLS linear inverse: it handles nonlinear HiPCO relationships and all inputs simultaneously.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3. KAN spline activations show the actual shape of each input-to-quality relationship, which we cross-check against known HiPCO physics.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903720" y="1325880"/>
            <a:ext cx="4526280" cy="3246120"/>
          </a:xfrm>
          <a:prstGeom prst="roundRect">
            <a:avLst>
              <a:gd name="adj" fmla="val 2817"/>
            </a:avLst>
          </a:prstGeom>
          <a:solidFill>
            <a:srgbClr val="152238"/>
          </a:solidFill>
          <a:ln/>
        </p:spPr>
      </p:sp>
      <p:sp>
        <p:nvSpPr>
          <p:cNvPr id="8" name="Text 6"/>
          <p:cNvSpPr/>
          <p:nvPr/>
        </p:nvSpPr>
        <p:spPr>
          <a:xfrm>
            <a:off x="7178040" y="143560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KAN SPECIFICALLY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78040" y="1783080"/>
            <a:ext cx="39776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B8C6D4"/>
                </a:solidFill>
              </a:rPr>
              <a:t>XGBoost: interpretable-ish but NOT differentiable. Bad for inverse.</a:t>
            </a:r>
            <a:endParaRPr lang="en-US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B8C6D4"/>
                </a:solidFill>
              </a:rPr>
              <a:t>Plain MLP: differentiable but a black box. Bad for trust.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FFFFFF"/>
                </a:solidFill>
              </a:rPr>
              <a:t>KAN: the ONLY model that is both differentiable AND interpretable. Exactly what an invertible, trustworthy process model needs.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05840" y="480060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5120640"/>
            <a:ext cx="10149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PHASES AT A GLANCE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80467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phases from foundation to submission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10698480" cy="566928"/>
          </a:xfrm>
          <a:prstGeom prst="roundRect">
            <a:avLst>
              <a:gd name="adj" fmla="val 9677"/>
            </a:avLst>
          </a:prstGeom>
          <a:solidFill>
            <a:srgbClr val="152238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444752"/>
            <a:ext cx="347472" cy="329184"/>
          </a:xfrm>
          <a:prstGeom prst="roundRect">
            <a:avLst>
              <a:gd name="adj" fmla="val 13889"/>
            </a:avLst>
          </a:prstGeom>
          <a:solidFill>
            <a:srgbClr val="2DC65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44752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3258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&amp; Literature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06240" y="1325880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papers reviewed, novelty pinned, venue chosen, isolated package set up.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378440" y="1463040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2DC653"/>
          </a:solidFill>
          <a:ln/>
        </p:spPr>
      </p:sp>
      <p:sp>
        <p:nvSpPr>
          <p:cNvPr id="10" name="Text 8"/>
          <p:cNvSpPr/>
          <p:nvPr/>
        </p:nvSpPr>
        <p:spPr>
          <a:xfrm>
            <a:off x="10378440" y="14630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1984248"/>
            <a:ext cx="10698480" cy="566928"/>
          </a:xfrm>
          <a:prstGeom prst="roundRect">
            <a:avLst>
              <a:gd name="adj" fmla="val 9677"/>
            </a:avLst>
          </a:prstGeom>
          <a:solidFill>
            <a:srgbClr val="1A2D44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2103120"/>
            <a:ext cx="347472" cy="329184"/>
          </a:xfrm>
          <a:prstGeom prst="roundRect">
            <a:avLst>
              <a:gd name="adj" fmla="val 13889"/>
            </a:avLst>
          </a:prstGeom>
          <a:solidFill>
            <a:srgbClr val="2DC653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103120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198424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Preparation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06240" y="1984248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row per batch from our available data: 7 setpoints + 11 physics-engine features + DWM lab targets.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378440" y="2121408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2DC653"/>
          </a:solidFill>
          <a:ln/>
        </p:spPr>
      </p:sp>
      <p:sp>
        <p:nvSpPr>
          <p:cNvPr id="17" name="Text 15"/>
          <p:cNvSpPr/>
          <p:nvPr/>
        </p:nvSpPr>
        <p:spPr>
          <a:xfrm>
            <a:off x="10378440" y="212140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" y="2642616"/>
            <a:ext cx="10698480" cy="566928"/>
          </a:xfrm>
          <a:prstGeom prst="roundRect">
            <a:avLst>
              <a:gd name="adj" fmla="val 9677"/>
            </a:avLst>
          </a:prstGeom>
          <a:solidFill>
            <a:srgbClr val="152238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2761488"/>
            <a:ext cx="347472" cy="329184"/>
          </a:xfrm>
          <a:prstGeom prst="roundRect">
            <a:avLst>
              <a:gd name="adj" fmla="val 13889"/>
            </a:avLst>
          </a:prstGeom>
          <a:solidFill>
            <a:srgbClr val="E8973A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2761488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17320" y="2642616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 Forward vs Baselines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06240" y="2642616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KAN; benchmark against existing XGBoost and PLS on identical CV splits (R2, NMAE).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378440" y="2779776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E8973A"/>
          </a:solidFill>
          <a:ln/>
        </p:spPr>
      </p:sp>
      <p:sp>
        <p:nvSpPr>
          <p:cNvPr id="24" name="Text 22"/>
          <p:cNvSpPr/>
          <p:nvPr/>
        </p:nvSpPr>
        <p:spPr>
          <a:xfrm>
            <a:off x="10378440" y="2779776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1520" y="3300984"/>
            <a:ext cx="10698480" cy="566928"/>
          </a:xfrm>
          <a:prstGeom prst="roundRect">
            <a:avLst>
              <a:gd name="adj" fmla="val 9677"/>
            </a:avLst>
          </a:prstGeom>
          <a:solidFill>
            <a:srgbClr val="1A2D44"/>
          </a:solidFill>
          <a:ln/>
        </p:spPr>
      </p:sp>
      <p:sp>
        <p:nvSpPr>
          <p:cNvPr id="26" name="Shape 24"/>
          <p:cNvSpPr/>
          <p:nvPr/>
        </p:nvSpPr>
        <p:spPr>
          <a:xfrm>
            <a:off x="914400" y="3419856"/>
            <a:ext cx="347472" cy="329184"/>
          </a:xfrm>
          <a:prstGeom prst="roundRect">
            <a:avLst>
              <a:gd name="adj" fmla="val 13889"/>
            </a:avLst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3419856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17320" y="330098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Differentiable Inverse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206240" y="3300984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Gradient-based recipe search with feasibility penalties; replaces differential evolution and SLSQP.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378440" y="3438144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00B4D8"/>
          </a:solidFill>
          <a:ln/>
        </p:spPr>
      </p:sp>
      <p:sp>
        <p:nvSpPr>
          <p:cNvPr id="31" name="Text 29"/>
          <p:cNvSpPr/>
          <p:nvPr/>
        </p:nvSpPr>
        <p:spPr>
          <a:xfrm>
            <a:off x="10378440" y="3438144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1520" y="3959352"/>
            <a:ext cx="10698480" cy="566928"/>
          </a:xfrm>
          <a:prstGeom prst="roundRect">
            <a:avLst>
              <a:gd name="adj" fmla="val 9677"/>
            </a:avLst>
          </a:prstGeom>
          <a:solidFill>
            <a:srgbClr val="152238"/>
          </a:solidFill>
          <a:ln/>
        </p:spPr>
      </p:sp>
      <p:sp>
        <p:nvSpPr>
          <p:cNvPr id="33" name="Shape 31"/>
          <p:cNvSpPr/>
          <p:nvPr/>
        </p:nvSpPr>
        <p:spPr>
          <a:xfrm>
            <a:off x="914400" y="4078224"/>
            <a:ext cx="347472" cy="329184"/>
          </a:xfrm>
          <a:prstGeom prst="roundRect">
            <a:avLst>
              <a:gd name="adj" fmla="val 13889"/>
            </a:avLst>
          </a:prstGeom>
          <a:solidFill>
            <a:srgbClr val="00B4D8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4078224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417320" y="395935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Ablations &amp; Interpretability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206240" y="3959352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Spline-activation plots for top inputs; cross-check shapes against known HiPCO physics.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378440" y="4096512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00B4D8"/>
          </a:solidFill>
          <a:ln/>
        </p:spPr>
      </p:sp>
      <p:sp>
        <p:nvSpPr>
          <p:cNvPr id="38" name="Text 36"/>
          <p:cNvSpPr/>
          <p:nvPr/>
        </p:nvSpPr>
        <p:spPr>
          <a:xfrm>
            <a:off x="10378440" y="409651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31520" y="4617720"/>
            <a:ext cx="10698480" cy="566928"/>
          </a:xfrm>
          <a:prstGeom prst="roundRect">
            <a:avLst>
              <a:gd name="adj" fmla="val 9677"/>
            </a:avLst>
          </a:prstGeom>
          <a:solidFill>
            <a:srgbClr val="1A2D44"/>
          </a:solidFill>
          <a:ln/>
        </p:spPr>
      </p:sp>
      <p:sp>
        <p:nvSpPr>
          <p:cNvPr id="40" name="Shape 38"/>
          <p:cNvSpPr/>
          <p:nvPr/>
        </p:nvSpPr>
        <p:spPr>
          <a:xfrm>
            <a:off x="914400" y="4736592"/>
            <a:ext cx="347472" cy="329184"/>
          </a:xfrm>
          <a:prstGeom prst="roundRect">
            <a:avLst>
              <a:gd name="adj" fmla="val 13889"/>
            </a:avLst>
          </a:prstGeom>
          <a:solidFill>
            <a:srgbClr val="00B4D8"/>
          </a:solidFill>
          <a:ln/>
        </p:spPr>
      </p:sp>
      <p:sp>
        <p:nvSpPr>
          <p:cNvPr id="41" name="Text 39"/>
          <p:cNvSpPr/>
          <p:nvPr/>
        </p:nvSpPr>
        <p:spPr>
          <a:xfrm>
            <a:off x="914400" y="4736592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417320" y="461772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&amp; Paper Draft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206240" y="4617720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Architecture, forward-vs-inverse, interpretability figures; IEEE draft.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0378440" y="4754880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00B4D8"/>
          </a:solidFill>
          <a:ln/>
        </p:spPr>
      </p:sp>
      <p:sp>
        <p:nvSpPr>
          <p:cNvPr id="45" name="Text 43"/>
          <p:cNvSpPr/>
          <p:nvPr/>
        </p:nvSpPr>
        <p:spPr>
          <a:xfrm>
            <a:off x="10378440" y="475488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31520" y="5276088"/>
            <a:ext cx="10698480" cy="566928"/>
          </a:xfrm>
          <a:prstGeom prst="roundRect">
            <a:avLst>
              <a:gd name="adj" fmla="val 9677"/>
            </a:avLst>
          </a:prstGeom>
          <a:solidFill>
            <a:srgbClr val="152238"/>
          </a:solidFill>
          <a:ln/>
        </p:spPr>
      </p:sp>
      <p:sp>
        <p:nvSpPr>
          <p:cNvPr id="47" name="Shape 45"/>
          <p:cNvSpPr/>
          <p:nvPr/>
        </p:nvSpPr>
        <p:spPr>
          <a:xfrm>
            <a:off x="914400" y="5394960"/>
            <a:ext cx="347472" cy="329184"/>
          </a:xfrm>
          <a:prstGeom prst="roundRect">
            <a:avLst>
              <a:gd name="adj" fmla="val 13889"/>
            </a:avLst>
          </a:prstGeom>
          <a:solidFill>
            <a:srgbClr val="00B4D8"/>
          </a:solidFill>
          <a:ln/>
        </p:spPr>
      </p:sp>
      <p:sp>
        <p:nvSpPr>
          <p:cNvPr id="48" name="Text 46"/>
          <p:cNvSpPr/>
          <p:nvPr/>
        </p:nvSpPr>
        <p:spPr>
          <a:xfrm>
            <a:off x="914400" y="5394960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1417320" y="527608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Prep &amp; Submission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206240" y="5276088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Preempt objections, confirm no proprietary values, format, submit.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0378440" y="5413248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00B4D8"/>
          </a:solidFill>
          <a:ln/>
        </p:spPr>
      </p:sp>
      <p:sp>
        <p:nvSpPr>
          <p:cNvPr id="52" name="Text 50"/>
          <p:cNvSpPr/>
          <p:nvPr/>
        </p:nvSpPr>
        <p:spPr>
          <a:xfrm>
            <a:off x="10378440" y="541324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867</TotalTime>
  <Words>2375</Words>
  <Application>Microsoft Office PowerPoint</Application>
  <PresentationFormat>Widescreen</PresentationFormat>
  <Paragraphs>253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NoPo Nanotechnologies</dc:creator>
  <cp:lastModifiedBy>Intern2</cp:lastModifiedBy>
  <cp:revision>5</cp:revision>
  <dcterms:created xsi:type="dcterms:W3CDTF">2026-08-19T10:51:17Z</dcterms:created>
  <dcterms:modified xsi:type="dcterms:W3CDTF">2026-08-20T06:22:24Z</dcterms:modified>
</cp:coreProperties>
</file>